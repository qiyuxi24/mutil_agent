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</a:rPr>
              <a:t>GOAI 世界人工智能开源大赛 · 赛道三「软件研发全流程协同」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软件研发全流程协同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多 Agent 系统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用 AgentTeams 打造一支可验证、可回滚、可沉淀的 PDCA 研发闭环 Agent 团队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1C7293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 Worker 真实闭环跑通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384048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1C7293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 个工程 Skill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384048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1C7293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840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动态 Agent 团队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A6B7B"/>
                </a:solidFill>
              </a:rPr>
              <a:t>AgentTeams 协同基点 · AgentScope 生态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</a:rPr>
              <a:t>场景价值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</a:rPr>
              <a:t>企业级软件研发的现实痛点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44475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</a:rPr>
              <a:t>多源信息割裂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" y="171907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Issue / 日志 / 用户反馈分散，缺陷难归一、难去重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15768" y="144475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</a:rPr>
              <a:t>定位靠经验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15768" y="171907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根因分析依赖资深工程师经验，影响面难评估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" y="249631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</a:rPr>
              <a:t>质量难保证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" y="277063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修复后测试覆盖不足，回归风险高，凭自评无客观门禁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06040" y="2423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15768" y="249631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</a:rPr>
              <a:t>知识不沉淀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15768" y="277063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每次踩坑重来，组织经验流失，无法复用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3840480" cy="3108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572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我们的解法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201168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把「缺陷/需求聚合 → 根因定位 → 修复 → 测试验证 → 发布确认 → 复盘沉淀」做成可验证的 PDCA 闭环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74920" y="267004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AgentTeams 声明式能力，动态组建「软件研发 Agent 团队」，按项目需求招人/裁员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4920" y="332841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确定性验证闸门 + 组织记忆 RAG，实现「越跑越懂项目」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74920" y="398678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天然契合企业 B 端，可复制到任意软件研发组织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以 AgentTeams（原名 Hiclaw）为协同设计基点，覆盖官方 8 环节闭环硬性要求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</a:rPr>
              <a:t>作品定位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</a:rPr>
              <a:t>一句话 + 理论总纲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05840"/>
          </a:xfrm>
          <a:prstGeom prst="roundRect">
            <a:avLst>
              <a:gd name="adj" fmla="val 9091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用 AgentTeams 的声明式能力，造一支「软件研发 Agent 团队」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把「缺陷聚合 → 根因定位 → 修复 → 测试验证 → 发布确认 → 复盘沉淀」做成可验证、可回滚、可沉淀的 PDCA 闭环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理论总纲：PDCA 闭环（主框架）+ 三条子原理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3108960"/>
            <a:ext cx="73152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自动化质量门禁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5844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测试验证员用确定性工具当裁判，不合格代码不进发布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3108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3108960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最小影响可回滚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6432" y="35844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灰度 + 金丝雀 + Saga 补偿回滚，发布全程留痕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44184" y="3108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44184" y="3108960"/>
            <a:ext cx="73152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组织记忆复用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35844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复盘沉淀到 RAG 知识库，知识复用统计反哺成长，越跑越懂项目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动态 Agent 团队：按需招募新职能 Agent / 项目结束移除 Agent / 新 Agent 迅速与既有团队协作出结果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</a:rPr>
              <a:t>多 Agent 协同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</a:rPr>
              <a:t>6 个研发职能 Agent + PDCA 里程碑握手协议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2606040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72768"/>
            <a:ext cx="457200" cy="457200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</a:rPr>
              <a:t>缺陷聚合员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17922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Aggregator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</a:rPr>
              <a:t>产品经理 + 缺陷管理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68880" y="2148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P 计划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3716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371600"/>
            <a:ext cx="260604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0712" y="1572768"/>
            <a:ext cx="457200" cy="45720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10712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59352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</a:rPr>
              <a:t>根因定位员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59352" y="17922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RootCause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593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</a:rPr>
              <a:t>架构师 · RCA + 影响面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239512" y="2148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D 执行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44184" y="13716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44184" y="1371600"/>
            <a:ext cx="260604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181344" y="1572768"/>
            <a:ext cx="457200" cy="45720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81344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29984" y="1536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</a:rPr>
              <a:t>修复工程师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29984" y="17922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Fixer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9984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</a:rPr>
              <a:t>前后端开发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10144" y="2148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D 执行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2606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2606040"/>
            <a:ext cx="260604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2807208"/>
            <a:ext cx="457200" cy="457200"/>
          </a:xfrm>
          <a:prstGeom prst="ellipse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88720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</a:rPr>
              <a:t>测试验证员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88720" y="30266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Tester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8872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</a:rPr>
              <a:t>测试工程师 · 质量门禁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468880" y="3383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C 检查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73552" y="2606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73552" y="2606040"/>
            <a:ext cx="2606040" cy="82296"/>
          </a:xfrm>
          <a:prstGeom prst="rect">
            <a:avLst/>
          </a:prstGeom>
          <a:solidFill>
            <a:srgbClr val="7C6FD4"/>
          </a:solidFill>
          <a:ln/>
        </p:spPr>
      </p:sp>
      <p:sp>
        <p:nvSpPr>
          <p:cNvPr id="38" name="Shape 36"/>
          <p:cNvSpPr/>
          <p:nvPr/>
        </p:nvSpPr>
        <p:spPr>
          <a:xfrm>
            <a:off x="3410712" y="2807208"/>
            <a:ext cx="457200" cy="457200"/>
          </a:xfrm>
          <a:prstGeom prst="ellipse">
            <a:avLst/>
          </a:prstGeom>
          <a:solidFill>
            <a:srgbClr val="7C6FD4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410712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959352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</a:rPr>
              <a:t>发布确认员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959352" y="30266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Releaser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59352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</a:rPr>
              <a:t>运维 / DevOps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39512" y="3383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6FD4"/>
                </a:solidFill>
              </a:rPr>
              <a:t>A 处置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44184" y="2606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44184" y="2606040"/>
            <a:ext cx="2606040" cy="82296"/>
          </a:xfrm>
          <a:prstGeom prst="rect">
            <a:avLst/>
          </a:prstGeom>
          <a:solidFill>
            <a:srgbClr val="7C6FD4"/>
          </a:solidFill>
          <a:ln/>
        </p:spPr>
      </p:sp>
      <p:sp>
        <p:nvSpPr>
          <p:cNvPr id="46" name="Shape 44"/>
          <p:cNvSpPr/>
          <p:nvPr/>
        </p:nvSpPr>
        <p:spPr>
          <a:xfrm>
            <a:off x="6181344" y="2807208"/>
            <a:ext cx="457200" cy="457200"/>
          </a:xfrm>
          <a:prstGeom prst="ellipse">
            <a:avLst/>
          </a:prstGeom>
          <a:solidFill>
            <a:srgbClr val="7C6FD4">
              <a:alpha val="8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181344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729984" y="2770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</a:rPr>
              <a:t>复盘沉淀员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729984" y="30266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Retrospector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29984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</a:rPr>
              <a:t>数据分析 + 知识沉淀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010144" y="3383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6FD4"/>
                </a:solidFill>
              </a:rPr>
              <a:t>A 处置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里程碑握手：TASK_SPEC_READY → ROOT_CAUSE_FOUND → FIX_APPLIED → TEST_PASSED → RELEASE_OK → RETROSPECT_DONE（跨 Agent 交接，防死锁）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PDCA 闭环状态机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官方 8 环节 → PDCA 四象限 8 主状态（确定性、可审计、带回滚）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7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270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P 计划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任务输入 → 拆解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SPEC_INPUT / DECOMPOSE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04872" y="185623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14173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7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5270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D 执行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18745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根因 + 修复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213055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ROOT_CAUSE / FIX_APPLY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07992" y="1856232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14173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7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270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C 检查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18745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测试验证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13055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TEST_VERIFY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11112" y="1856232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2280" y="14173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65A82">
              <a:alpha val="70000"/>
            </a:srgbClr>
          </a:solidFill>
          <a:ln w="19050">
            <a:solidFill>
              <a:srgbClr val="7C6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5270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6FD4"/>
                </a:solidFill>
              </a:rPr>
              <a:t>A 处置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18745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发布 + 复盘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12280" y="213055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RELEASE / RETROSPECT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里程碑（跨 Agent 交接 / @mention 驱动，写入 state.json 可审计）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108960"/>
            <a:ext cx="1225296" cy="685800"/>
          </a:xfrm>
          <a:prstGeom prst="roundRect">
            <a:avLst>
              <a:gd name="adj" fmla="val 10667"/>
            </a:avLst>
          </a:prstGeom>
          <a:solidFill>
            <a:srgbClr val="F4F7FB">
              <a:alpha val="90000"/>
            </a:srgbClr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00400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TASK_SPEC_READY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347472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聚合完成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746504" y="3429000"/>
            <a:ext cx="109728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1856232" y="3108960"/>
            <a:ext cx="1225296" cy="685800"/>
          </a:xfrm>
          <a:prstGeom prst="roundRect">
            <a:avLst>
              <a:gd name="adj" fmla="val 10667"/>
            </a:avLst>
          </a:prstGeom>
          <a:solidFill>
            <a:srgbClr val="F4F7FB">
              <a:alpha val="90000"/>
            </a:srgbClr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56232" y="3200400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ROOT_CAUSE_FOUND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56232" y="347472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根因确认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99816" y="3429000"/>
            <a:ext cx="109728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9544" y="3108960"/>
            <a:ext cx="1225296" cy="685800"/>
          </a:xfrm>
          <a:prstGeom prst="roundRect">
            <a:avLst>
              <a:gd name="adj" fmla="val 10667"/>
            </a:avLst>
          </a:prstGeom>
          <a:solidFill>
            <a:srgbClr val="F4F7FB">
              <a:alpha val="90000"/>
            </a:srgbClr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9544" y="3200400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FIX_APPLIED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9544" y="347472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修复落地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453128" y="3429000"/>
            <a:ext cx="109728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4562856" y="3108960"/>
            <a:ext cx="1225296" cy="685800"/>
          </a:xfrm>
          <a:prstGeom prst="roundRect">
            <a:avLst>
              <a:gd name="adj" fmla="val 10667"/>
            </a:avLst>
          </a:prstGeom>
          <a:solidFill>
            <a:srgbClr val="F4F7FB">
              <a:alpha val="90000"/>
            </a:srgbClr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62856" y="3200400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TEST_PASSED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62856" y="347472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测试通过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06440" y="3429000"/>
            <a:ext cx="109728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5916168" y="3108960"/>
            <a:ext cx="1225296" cy="685800"/>
          </a:xfrm>
          <a:prstGeom prst="roundRect">
            <a:avLst>
              <a:gd name="adj" fmla="val 10667"/>
            </a:avLst>
          </a:prstGeom>
          <a:solidFill>
            <a:srgbClr val="F4F7FB">
              <a:alpha val="90000"/>
            </a:srgbClr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16168" y="3200400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RELEASE_OK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916168" y="347472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发布确认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159752" y="3429000"/>
            <a:ext cx="109728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7269480" y="3108960"/>
            <a:ext cx="1225296" cy="685800"/>
          </a:xfrm>
          <a:prstGeom prst="roundRect">
            <a:avLst>
              <a:gd name="adj" fmla="val 10667"/>
            </a:avLst>
          </a:prstGeom>
          <a:solidFill>
            <a:srgbClr val="F4F7FB">
              <a:alpha val="90000"/>
            </a:srgbClr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3200400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RETROSPECT_DONE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269480" y="347472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复盘闭合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0292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三条子原理落地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02920" y="4315968"/>
            <a:ext cx="3931920" cy="548640"/>
          </a:xfrm>
          <a:prstGeom prst="rect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4389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自动化质量门禁：确定性测试/编译/静态分析当裁判，TEST_FAILED 打回 Fixer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4315968"/>
            <a:ext cx="4023360" cy="548640"/>
          </a:xfrm>
          <a:prstGeom prst="rect">
            <a:avLst/>
          </a:prstGeom>
          <a:solidFill>
            <a:srgbClr val="7C6FD4">
              <a:alpha val="45000"/>
            </a:srgbClr>
          </a:solidFill>
          <a:ln w="12700">
            <a:solidFill>
              <a:srgbClr val="7C6F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最小影响可回滚：灰度 + 金丝雀 + Saga 补偿，RELEASE_ROLLED_BACK 打回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</a:rPr>
              <a:t>Skill 工程体系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</a:rPr>
              <a:t>三层 Skill 体系：可复用、可管理、可安全执行（对齐官方 9 字段规范）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264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L1 基座 Skill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168249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通用工程基础：repo-context / code-search / git-operations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1396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L2 领域 Skill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3957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研发闭环能力：issue-parsing / root-cause-analysis / impact-analysis / code-gen / test-generation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798064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8529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L3 协同 Skill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31089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闭环收口：release-gate / retrospective / knowledge-rag / evidence-log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37760" y="137160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14813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每个 Skill 按官方 9 字段定义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1874520"/>
            <a:ext cx="1600200" cy="292608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8745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名称 · 用途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1874520"/>
            <a:ext cx="1600200" cy="292608"/>
          </a:xfrm>
          <a:prstGeom prst="rect">
            <a:avLst/>
          </a:prstGeom>
          <a:solidFill>
            <a:srgbClr val="F0FA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8745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输入输出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0" y="2258568"/>
            <a:ext cx="1600200" cy="292608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25856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调用条件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12280" y="2258568"/>
            <a:ext cx="1600200" cy="292608"/>
          </a:xfrm>
          <a:prstGeom prst="rect">
            <a:avLst/>
          </a:prstGeom>
          <a:solidFill>
            <a:srgbClr val="F0FA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25856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依赖工具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2642616"/>
            <a:ext cx="1600200" cy="292608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64261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失败处理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12280" y="2642616"/>
            <a:ext cx="1600200" cy="292608"/>
          </a:xfrm>
          <a:prstGeom prst="rect">
            <a:avLst/>
          </a:prstGeom>
          <a:solidFill>
            <a:srgbClr val="F0FAF6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264261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安全边界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3026664"/>
            <a:ext cx="1600200" cy="292608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02666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复用价值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12280" y="3026664"/>
            <a:ext cx="1600200" cy="292608"/>
          </a:xfrm>
          <a:prstGeom prst="rect">
            <a:avLst/>
          </a:prstGeom>
          <a:solidFill>
            <a:srgbClr val="F0FAF6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302666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协同流程关系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3977640"/>
            <a:ext cx="8183880" cy="5029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416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</a:rPr>
              <a:t>确定性脚本落地（官方缺失的差异价值）：check-patch-integrity（补丁完整性）/ verify_test_gate（测试闸门）→ 客观裁判，非 LLM 自评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Skill 由 Manager 集中管理 · Worker 声明式挂载 · 安全边界注入（file_guard / tool_guard 沙箱守卫）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</a:rPr>
              <a:t>差异化亮点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</a:rPr>
              <a:t>「AI 公司」式动态 Agent 团队 + 成员绩效评价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846320" cy="2743200"/>
          </a:xfrm>
          <a:prstGeom prst="roundRect">
            <a:avLst>
              <a:gd name="adj" fmla="val 2667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动态组建 / 招人 / 裁员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</a:rPr>
              <a:t>按需招募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新项目缺某职能 → 声明式创建新 Worker（无状态、可销毁）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4963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</a:rPr>
              <a:t>迅速协作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新 Agent 通过 mcpServers + skills 立即与既有团队协作出结果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0266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</a:rPr>
              <a:t>合理裁员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项目结束 / 角色不需要 → 移除 Worker，团队成本可控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5570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</a:rPr>
              <a:t>解决痛点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技术栈和提示词不可能预先写死，广谱开发需动态扩展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32120" y="137160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1481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成员绩效评价（HR 系统）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19202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901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合格度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213969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</a:rPr>
              <a:t>客观 KPI 达标判定，确定性优先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15000" y="2423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404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贡献度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64261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</a:rPr>
              <a:t>反事实归因（借鉴 C3 / Shapley），不删 Agent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15000" y="29260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9077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成长分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314553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</a:rPr>
              <a:t>沉淀知识被跨任务复用的次数（学习与成长）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715000" y="345643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综合分 = 0.5 合格 + 0.35 贡献 + 0.15 成长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15000" y="37307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</a:rPr>
              <a:t>治理：留任 / 培训 / 降级 / 裁员 的客观依据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研究依据：AgentInit / AgentVerse / MetaGPT / ChatDev / CoMAS 等（已核实的 arXiv 引用）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确定性状态机 · 确定性验证闸门 · 上下文工程 · 成员评价（含知识复用成长分）—— 官方缺失的差异价值，已嵌入官方框架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工程落地 · 真实闭环实测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在官方 AgentTeams 平台真实驱动 6 Worker 跑通完整 PDCA 闭环（不是 mock）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闭环里程碑时间线（真实测量）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83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0s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TASK_SPEC_READY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783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aggregator · P 计划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26771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240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0s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ROOT_CAUSE_FOUND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2240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rootcause · D 执行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272491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697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0-45s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697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FIX_APPLIED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697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fixer · 10/10 测试 · D 执行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318211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1546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0-45s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54480" y="3154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TEST_PASSED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3154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tester · C 检查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63931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611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60s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5448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RELEASE_OK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36118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releaser · A 处置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" y="409651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069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181s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4069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RETROSPECT_DONE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4069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retrospector · A 处置 · 闭合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52160" y="1371600"/>
            <a:ext cx="2834640" cy="3200400"/>
          </a:xfrm>
          <a:prstGeom prst="roundRect">
            <a:avLst>
              <a:gd name="adj" fmla="val 3226"/>
            </a:avLst>
          </a:prstGeom>
          <a:solidFill>
            <a:srgbClr val="065A82">
              <a:alpha val="70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54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35040" y="15179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真实产出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35040" y="1965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181s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20391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完整闭环闭合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25877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10/10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178040" y="26609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自动化测试通过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2095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400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178040" y="328269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空用户名（不再 500）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383133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178040" y="39044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Worker 真实接力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43159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三层修复：入口校验 + 空值防护 + 异常映射；交付物已推送 MinIO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工程三大支柱：可观测（Trace/Log/Metrics）· 沙箱安全（file_guard/tool_guard 守卫）· 声明式工具链（MCP + Skill scripts）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</a:rPr>
              <a:t>系统架构总览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</a:rPr>
              <a:t>基于 AgentTeams 原生能力外包一层确定性调度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828800" cy="71323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2588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L3 · 平台集成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325880"/>
            <a:ext cx="6126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325880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AgentTeams（agt CLI + Matrix 房间协议）· Human 介入审批 · 沙箱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94960" y="2039112"/>
            <a:ext cx="54864" cy="155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194560"/>
            <a:ext cx="1828800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9456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L2 · 标准接口层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2194560"/>
            <a:ext cx="6126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194560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AgentTeamsLoop 调度引擎 · AgentInterface · AgentBus/EventBus · 6 Worker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907792"/>
            <a:ext cx="54864" cy="155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063240"/>
            <a:ext cx="1828800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6324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L1 · 调度核心升级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3063240"/>
            <a:ext cx="6126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3063240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IterativeWorker 迭代 · 动态预算分配 · 语义记忆检索 · 异步并行派单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94960" y="3776472"/>
            <a:ext cx="54864" cy="155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931920"/>
            <a:ext cx="1828800" cy="71323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9319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共享协议层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3931920"/>
            <a:ext cx="6126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3931920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state.py 确定性状态机 · evaluation.py 评价 · knowledge_tracker.py 知识复用统计 · context.py 上下文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agentteams_loop.py 本就是 AgentTeams 原生（非另起炉灶），确定性层是官方缺失的增量价值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ADCFC"/>
                </a:solidFill>
              </a:rPr>
              <a:t>一个能真实跑通的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</a:rPr>
              <a:t>软件研发多 Agent 团队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以 AgentTeams 为唯一协同基点 · 覆盖官方 8 环节闭环 · 6 Worker 真实跑通 · 确定性可验证 · 知识可沉淀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379476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3794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开源承诺：确定性调度层将贡献回 AgentTeams 开源生态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B7B"/>
                </a:solidFill>
              </a:rPr>
              <a:t>GOAI 世界人工智能开源大赛 · 赛道三 · 谢谢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GOAI 赛道三 · 软件研发全流程协同多Agent系统</dc:title>
  <dc:subject>PptxGenJS Presentation</dc:subject>
  <dc:creator>软件研发全流程协同团队</dc:creator>
  <cp:lastModifiedBy>软件研发全流程协同团队</cp:lastModifiedBy>
  <cp:revision>1</cp:revision>
  <dcterms:created xsi:type="dcterms:W3CDTF">2026-08-15T14:27:29Z</dcterms:created>
  <dcterms:modified xsi:type="dcterms:W3CDTF">2026-08-15T14:27:29Z</dcterms:modified>
</cp:coreProperties>
</file>