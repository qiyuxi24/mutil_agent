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</a:rPr>
              <a:t>GOAI 世界人工智能开源大赛 · 赛道三「软件研发全流程协同」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软件研发全流程协同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</a:rPr>
              <a:t>多 Agent 系统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用 AgentTeams 打造一支由固定 Leader 编排、可验证、可回滚、可沉淀的 PDCA 研发闭环 Agent 团队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1C7293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1 Leader + 8 职能一套班子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384048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1C7293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21 个工程 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384048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1C7293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Leader 编排动态团队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A6B7B"/>
                </a:solidFill>
              </a:rPr>
              <a:t>AgentTeams 协同基点 · AgentScope 生态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场景价值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企业级软件研发的现实痛点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44475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多源信息割裂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" y="171907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Issue / 日志 / 用户反馈分散，缺陷难归一、难去重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15768" y="144475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定位靠经验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715768" y="171907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根因分析依赖资深工程师经验，影响面难评估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" y="249631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质量难保证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" y="277063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修复后测试覆盖不足，回归风险高，凭自评无客观门禁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060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249631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知识不沉淀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15768" y="277063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每次踩坑重来，组织经验流失，无法复用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46320" y="1371600"/>
            <a:ext cx="3840480" cy="310896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157276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我们的解法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201168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把「缺陷/需求聚合 → 根因定位 → 修复 → 测试验证 → 发布确认 → 复盘沉淀」做成可验证的 PDCA 闭环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74920" y="26700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固定 Leader 从一套完整班子按阶段挑人编排，员工间可互相通信、各司其职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74920" y="33284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确定性验证闸门 + 组织记忆 RAG，实现「越跑越懂项目」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74920" y="39867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天然契合企业 B 端，可复制到任意软件研发组织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以 AgentTeams（原名 Hiclaw）为协同设计基点，覆盖官方 8 环节闭环硬性要求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作品定位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一句话 + 理论总纲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9091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8132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用 AgentTeams 的声明式能力，造一支「软件研发 Agent 团队」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把「缺陷聚合 → 根因定位 → 修复 → 测试验证 → 发布确认 → 复盘沉淀」做成可验证、可回滚、可沉淀的 PDCA 闭环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</a:rPr>
              <a:t>理论总纲：PDCA 闭环（主框架）+ 三条子原理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3108960"/>
            <a:ext cx="73152" cy="14173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自动化质量门禁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584448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</a:rPr>
              <a:t>测试验证员用确定性工具当裁判，不合格代码不进发布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73552" y="31089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73552" y="3108960"/>
            <a:ext cx="73152" cy="1417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最小影响可回滚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56432" y="3584448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</a:rPr>
              <a:t>灰度 + 金丝雀 + Saga 补偿回滚，发布全程留痕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44184" y="31089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44184" y="3108960"/>
            <a:ext cx="73152" cy="1417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6227064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组织记忆复用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27064" y="3584448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</a:rPr>
              <a:t>复盘沉淀到 RAG 知识库，知识复用统计反哺成长，越跑越懂项目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固定 Leader 一套班子：Leader 按阶段从完整班子挑人参与 / 员工间可互相通信 / 通用记忆沉淀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多 Agent 协同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</a:rPr>
              <a:t>固定 Leader + 一套完整班子（8 职能）· PDCA 里程碑握手协议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19050">
            <a:solidFill>
              <a:srgbClr val="E8A317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2606040" cy="82296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536192"/>
            <a:ext cx="420624" cy="420624"/>
          </a:xfrm>
          <a:prstGeom prst="ellipse">
            <a:avLst/>
          </a:prstGeom>
          <a:solidFill>
            <a:srgbClr val="E8A317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361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61288" y="149961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团队 Leader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17373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Leader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61288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编排者 · 按阶段挑人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560320" y="20116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A317"/>
                </a:solidFill>
              </a:rPr>
              <a:t>LEADER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73552" y="137160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73552" y="1371600"/>
            <a:ext cx="2606040" cy="82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0712" y="1536192"/>
            <a:ext cx="420624" cy="420624"/>
          </a:xfrm>
          <a:prstGeom prst="ellipse">
            <a:avLst/>
          </a:prstGeom>
          <a:solidFill>
            <a:srgbClr val="02C39A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410712" y="15361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31920" y="149961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产品经理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31920" y="17373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Aggregator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31920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需求聚合 · 规格拆解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330952" y="20116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P 计划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44184" y="137160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44184" y="1371600"/>
            <a:ext cx="260604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6181344" y="1536192"/>
            <a:ext cx="420624" cy="420624"/>
          </a:xfrm>
          <a:prstGeom prst="ellipse">
            <a:avLst/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181344" y="15361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702552" y="149961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架构师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02552" y="17373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RootCause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702552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RCA 根因 + 影响面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101584" y="20116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7293"/>
                </a:solidFill>
              </a:rPr>
              <a:t>D 分析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2414016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" y="2414016"/>
            <a:ext cx="260604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2578608"/>
            <a:ext cx="420624" cy="420624"/>
          </a:xfrm>
          <a:prstGeom prst="ellipse">
            <a:avLst/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25786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161288" y="2542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前端开发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61288" y="277977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Frontend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61288" y="2999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UI / 前端实现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560320" y="3054096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7293"/>
                </a:solidFill>
              </a:rPr>
              <a:t>D 编码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73552" y="2414016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73552" y="2414016"/>
            <a:ext cx="260604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0712" y="2578608"/>
            <a:ext cx="420624" cy="420624"/>
          </a:xfrm>
          <a:prstGeom prst="ellipse">
            <a:avLst/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410712" y="25786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3931920" y="2542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后端开发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931920" y="277977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Backend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931920" y="2999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POST/GET 接口 · 存储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330952" y="3054096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7293"/>
                </a:solidFill>
              </a:rPr>
              <a:t>D 编码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044184" y="2414016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44184" y="2414016"/>
            <a:ext cx="260604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6" name="Shape 44"/>
          <p:cNvSpPr/>
          <p:nvPr/>
        </p:nvSpPr>
        <p:spPr>
          <a:xfrm>
            <a:off x="6181344" y="2578608"/>
            <a:ext cx="420624" cy="420624"/>
          </a:xfrm>
          <a:prstGeom prst="ellipse">
            <a:avLst/>
          </a:prstGeom>
          <a:solidFill>
            <a:srgbClr val="1C7293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6181344" y="25786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702552" y="2542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修理工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702552" y="277977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Fixer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702552" y="2999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缺陷根因修复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101584" y="3054096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7293"/>
                </a:solidFill>
              </a:rPr>
              <a:t>D 修复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02920" y="345643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02920" y="3456432"/>
            <a:ext cx="2606040" cy="82296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4" name="Shape 52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65A82">
              <a:alpha val="85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1161288" y="35844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测试工程师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1161288" y="382219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Tester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1161288" y="4041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质量门禁 · 真实验证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560320" y="40965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5A82"/>
                </a:solidFill>
              </a:rPr>
              <a:t>C 检查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273552" y="345643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3273552" y="3456432"/>
            <a:ext cx="2606040" cy="82296"/>
          </a:xfrm>
          <a:prstGeom prst="rect">
            <a:avLst/>
          </a:prstGeom>
          <a:solidFill>
            <a:srgbClr val="7C6FD4"/>
          </a:solidFill>
          <a:ln/>
        </p:spPr>
      </p:sp>
      <p:sp>
        <p:nvSpPr>
          <p:cNvPr id="62" name="Shape 60"/>
          <p:cNvSpPr/>
          <p:nvPr/>
        </p:nvSpPr>
        <p:spPr>
          <a:xfrm>
            <a:off x="3410712" y="3621024"/>
            <a:ext cx="420624" cy="420624"/>
          </a:xfrm>
          <a:prstGeom prst="ellipse">
            <a:avLst/>
          </a:prstGeom>
          <a:solidFill>
            <a:srgbClr val="7C6FD4">
              <a:alpha val="85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3410712" y="362102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3931920" y="35844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运维/DevOps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3931920" y="382219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Releaser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3931920" y="4041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灰度发布 · 回滚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330952" y="40965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6FD4"/>
                </a:solidFill>
              </a:rPr>
              <a:t>A 处置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044184" y="345643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044184" y="3456432"/>
            <a:ext cx="2606040" cy="82296"/>
          </a:xfrm>
          <a:prstGeom prst="rect">
            <a:avLst/>
          </a:prstGeom>
          <a:solidFill>
            <a:srgbClr val="7C6FD4"/>
          </a:solidFill>
          <a:ln/>
        </p:spPr>
      </p:sp>
      <p:sp>
        <p:nvSpPr>
          <p:cNvPr id="70" name="Shape 68"/>
          <p:cNvSpPr/>
          <p:nvPr/>
        </p:nvSpPr>
        <p:spPr>
          <a:xfrm>
            <a:off x="6181344" y="3621024"/>
            <a:ext cx="420624" cy="420624"/>
          </a:xfrm>
          <a:prstGeom prst="ellipse">
            <a:avLst/>
          </a:prstGeom>
          <a:solidFill>
            <a:srgbClr val="7C6FD4">
              <a:alpha val="85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6181344" y="362102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</a:t>
            </a:r>
            <a:endParaRPr lang="en-US" sz="1700" dirty="0"/>
          </a:p>
        </p:txBody>
      </p:sp>
      <p:sp>
        <p:nvSpPr>
          <p:cNvPr id="72" name="Text 70"/>
          <p:cNvSpPr/>
          <p:nvPr/>
        </p:nvSpPr>
        <p:spPr>
          <a:xfrm>
            <a:off x="6702552" y="35844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复盘沉淀员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6702552" y="382219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</a:rPr>
              <a:t>Retrospector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702552" y="4041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经验沉淀 · 知识复用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8101584" y="40965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6FD4"/>
                </a:solidFill>
              </a:rPr>
              <a:t>A 处置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C7293"/>
                </a:solidFill>
              </a:rPr>
              <a:t>里程碑握手：TASK_SPEC_READY → ROOT_CAUSE_FOUND → FIX_APPLIED / SITE_READY → TEST_PASSED → RELEASE_OK → RETROSPECT_DONE（跨 Agent 交接，防死锁）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02920" y="4828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65A82"/>
                </a:solidFill>
              </a:rPr>
              <a:t>员工可互相通信（Tester 向 Backend 要开发日志）· 全员挂通用记忆 agent-memory + 团队通信 team-comm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PDCA 闭环状态机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官方 8 环节 → PDCA 四象限 8 主状态（确定性、可审计、带回滚）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P 计划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任务输入 → 拆解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SPEC_INPUT / DECOMPOSE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404872" y="1856232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Shape 8"/>
          <p:cNvSpPr/>
          <p:nvPr/>
        </p:nvSpPr>
        <p:spPr>
          <a:xfrm>
            <a:off x="260604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D 执行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0604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根因 + 修复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60604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ROOT_CAUSE / FIX_APPLY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07992" y="1856232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470916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C 检查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0916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测试验证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0916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TEST_VERIFY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611112" y="1856232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681228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7C6F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6FD4"/>
                </a:solidFill>
              </a:rPr>
              <a:t>A 处置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发布 + 复盘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1228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RELEASE / RETROSPECT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2697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里程碑（跨 Agent 交接 / @mention 驱动，写入 state.json 可审计）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TASK_SPEC_READY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聚合完成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746504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9" name="Shape 27"/>
          <p:cNvSpPr/>
          <p:nvPr/>
        </p:nvSpPr>
        <p:spPr>
          <a:xfrm>
            <a:off x="1856232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56232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ROOT_CAUSE_FOUND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856232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根因确认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099816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3209544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9544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FIX_APPLIED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209544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修复落地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53128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7" name="Shape 35"/>
          <p:cNvSpPr/>
          <p:nvPr/>
        </p:nvSpPr>
        <p:spPr>
          <a:xfrm>
            <a:off x="4562856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62856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TEST_PASSED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62856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测试通过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806440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1" name="Shape 39"/>
          <p:cNvSpPr/>
          <p:nvPr/>
        </p:nvSpPr>
        <p:spPr>
          <a:xfrm>
            <a:off x="5916168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16168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RELEASE_OK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916168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发布确认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159752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Shape 43"/>
          <p:cNvSpPr/>
          <p:nvPr/>
        </p:nvSpPr>
        <p:spPr>
          <a:xfrm>
            <a:off x="7269480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69480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RETROSPECT_DONE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269480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复盘闭合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0292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三条子原理落地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02920" y="4315968"/>
            <a:ext cx="3931920" cy="548640"/>
          </a:xfrm>
          <a:prstGeom prst="rect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43891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自动化质量门禁：确定性测试/编译/静态分析当裁判，TEST_FAILED 打回 Fixer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315968"/>
            <a:ext cx="4023360" cy="548640"/>
          </a:xfrm>
          <a:prstGeom prst="rect">
            <a:avLst/>
          </a:prstGeom>
          <a:solidFill>
            <a:srgbClr val="7C6FD4">
              <a:alpha val="45000"/>
            </a:srgbClr>
          </a:solidFill>
          <a:ln w="12700">
            <a:solidFill>
              <a:srgbClr val="7C6F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4389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最小影响可回滚：灰度 + 金丝雀 + Saga 补偿，RELEASE_ROLLED_BACK 打回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Skill 工程体系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三层 Skill 体系：可复用、可管理、可安全执行（对齐官方 9 字段规范）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4264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L1 基座 Skill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168249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通用工程基础：repo-context / code-search / git-operations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84832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21396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L2 领域 Skill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39572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研发闭环能力：issue-parsing / root-cause-analysis / impact-analysis / code-gen / test-generation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2798064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28529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L3 协同 Skill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310896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闭环收口：release-gate / retrospective / knowledge-rag / evidence-log + agent-memory / team-comm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0" y="1371600"/>
            <a:ext cx="3749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20640" y="148132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每个 Skill 按官方 9 字段定义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874520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1874520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名称 · 用途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12280" y="1874520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1874520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输入输出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120640" y="2258568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225856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调用条件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12280" y="2258568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225856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依赖工具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0" y="2642616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2642616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失败处理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12280" y="2642616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2642616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安全边界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20640" y="3026664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3026664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复用价值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12280" y="3026664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30" name="Text 28"/>
          <p:cNvSpPr/>
          <p:nvPr/>
        </p:nvSpPr>
        <p:spPr>
          <a:xfrm>
            <a:off x="6812280" y="3026664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协同流程关系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3977640"/>
            <a:ext cx="8183880" cy="502920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40"/>
                </a:solidFill>
              </a:rPr>
              <a:t>确定性脚本落地（官方缺失的差异价值）：check-patch-integrity（补丁完整性）/ verify_test_gate（测试闸门）→ 客观裁判，非 LLM 自评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Skill 由 Manager 集中管理 · Worker 声明式挂载 · 安全边界注入（file_guard / tool_guard 沙箱守卫）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差异化亮点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</a:rPr>
              <a:t>「AI 研发团队」式一套完整班子 + 固定 Leader 编排 + 成员绩效评价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846320" cy="2743200"/>
          </a:xfrm>
          <a:prstGeom prst="roundRect">
            <a:avLst>
              <a:gd name="adj" fmla="val 2667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08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一套班子 + 固定 Leader 编排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固定 Leader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Leader 按阶段决定挑哪些员工，绝不自写代码，只做编排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496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员工协作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员工间可互相通信（Tester→Backend 要日志），各司其职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0266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通用记忆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每个员工挂 agent-memory 沉淀经验，新任务 Leader 重新挑人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5570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解决痛点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角色与流程固定，参与人员随项目需求动态编排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32120" y="137160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15000" y="14813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成员绩效评价（HR 系统）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715000" y="192024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9019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合格度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72200" y="2139696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客观 KPI 达标判定，确定性优先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15000" y="2423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24048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贡献度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642616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反事实归因（借鉴 C3 / Shapley），不删 Agent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715000" y="292608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29077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成长分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3145536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沉淀知识被跨任务复用的次数（学习与成长）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715000" y="345643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综合分 = 0.5 合格 + 0.35 贡献 + 0.15 成长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715000" y="373075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治理：留任 / 培训 / 降级 / 裁员 的客观依据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研究依据：AgentInit / AgentVerse / MetaGPT / ChatDev / CoMAS 等（已核实的 arXiv 引用）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确定性状态机 · 确定性验证闸门 · 上下文工程 · 成员评价（含知识复用成长分）· 员工通信 —— 官方缺失的差异价值，已嵌入官方框架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工程落地 · 真实闭环实测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在官方 AgentTeams 平台真实驱动一套班子跑通完整 PDCA 闭环（不是 mock）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</a:rPr>
              <a:t>闭环里程碑时间线（真实测量）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6420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54480" y="166420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任务派发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66420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leader 编排 · LEADER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075688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0482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54480" y="20482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TASK_SPEC_READY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204825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aggregator · P 计划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2459736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43230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54480" y="24323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ROOT_CAUSE_FOUND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43230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rootcause · D 分析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40080" y="2843784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81635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0-45s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54480" y="28163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FIX_APPLIED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fixer · 10/10 测试 · D 执行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322783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2004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0-45s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32004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TEST_PASSED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31920" y="3200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tester · C 检查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361188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5844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60s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54480" y="35844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RELEASE_OK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931920" y="358444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releaser · A 处置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40080" y="3995928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96849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181s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554480" y="396849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RETROSPECT_DONE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31920" y="396849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retrospector · A 处置 · 闭合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52160" y="1371600"/>
            <a:ext cx="2834640" cy="3200400"/>
          </a:xfrm>
          <a:prstGeom prst="roundRect">
            <a:avLst>
              <a:gd name="adj" fmla="val 322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15179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</a:rPr>
              <a:t>真实产出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35040" y="19659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181s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178040" y="20391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完整闭环闭合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258775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10/10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178040" y="266090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自动化测试通过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35040" y="3209544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400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7178040" y="32826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空用户名（不再 500）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035040" y="3831336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7178040" y="39044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一套班子（1 Leader + 8 职能）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35040" y="43159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三层修复：入口校验 + 空值防护 + 异常映射；交付物已推送 MinIO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029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</a:rPr>
              <a:t>工程三大支柱：可观测（Trace/Log/Metrics）· 沙箱安全（file_guard/tool_guard 守卫）· 声明式工具链（MCP + Skill scripts）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系统架构总览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基于 AgentTeams 原生能力外包一层确定性调度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28800" cy="713232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2588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</a:rPr>
              <a:t>L3 · 平台集成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32588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32588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AgentTeams（agt CLI + Matrix 房间协议）· Human 介入审批 · 沙箱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94960" y="2039112"/>
            <a:ext cx="54864" cy="155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94560"/>
            <a:ext cx="1828800" cy="7132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19456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L2 · 标准接口层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14600" y="219456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219456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AgentTeamsLoop 调度引擎 · AgentInterface · AgentBus/EventBus · 一套班子（1 Leader + 8 职能）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907792"/>
            <a:ext cx="54864" cy="155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3063240"/>
            <a:ext cx="1828800" cy="7132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06324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L1 · 调度核心升级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306324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97480" y="306324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Leader 编排 · 员工间通信(team-comm) · 通用记忆(agent-memory) · 异步并行派单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94960" y="3776472"/>
            <a:ext cx="54864" cy="155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3931920"/>
            <a:ext cx="1828800" cy="71323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93192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共享协议层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393192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97480" y="393192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state.py 确定性状态机 · evaluation.py 评价(含成长分) · knowledge_tracker.py 知识复用统计 · context.py 上下文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agentteams_loop.py 本就是 AgentTeams 原生（非另起炉灶），确定性层是官方缺失的增量价值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CADCFC"/>
                </a:solidFill>
              </a:rPr>
              <a:t>一个能真实跑通的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C39A"/>
                </a:solidFill>
              </a:rPr>
              <a:t>软件研发多 Agent 团队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以 AgentTeams 为唯一协同基点 · 覆盖官方 8 环节闭环 · Leader + 一套班子真实跑通 · 确定性可验证 · 知识可沉淀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03120" y="37947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1C7293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0" y="37947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开源承诺：确定性调度层将贡献回 AgentTeams 开源生态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6B7B"/>
                </a:solidFill>
              </a:rPr>
              <a:t>GOAI 世界人工智能开源大赛 · 赛道三 · 谢谢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GOAI 赛道三 · 软件研发全流程协同多Agent系统</dc:title>
  <dc:subject>PptxGenJS Presentation</dc:subject>
  <dc:creator>软件研发全流程协同团队</dc:creator>
  <cp:lastModifiedBy>软件研发全流程协同团队</cp:lastModifiedBy>
  <cp:revision>1</cp:revision>
  <dcterms:created xsi:type="dcterms:W3CDTF">2026-08-16T09:47:39Z</dcterms:created>
  <dcterms:modified xsi:type="dcterms:W3CDTF">2026-08-16T09:47:39Z</dcterms:modified>
</cp:coreProperties>
</file>